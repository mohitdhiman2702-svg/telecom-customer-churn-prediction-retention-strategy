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42748"/>
          </a:solidFill>
          <a:ln>
            <a:solidFill>
              <a:srgbClr val="142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74320"/>
            <a:ext cx="10972800" cy="47548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TELECOM CUSTOMER CHURN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698480" cy="29260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200" b="0">
                <a:solidFill>
                  <a:srgbClr val="D2E0F2"/>
                </a:solidFill>
                <a:latin typeface="Aptos"/>
              </a:rPr>
              <a:t>Machine Learning  |  Exploratory Data Analysis  |  Retention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64208"/>
            <a:ext cx="5394960" cy="38404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400" b="1">
                <a:solidFill>
                  <a:srgbClr val="2A65AD"/>
                </a:solidFill>
                <a:latin typeface="Aptos"/>
              </a:rPr>
              <a:t>THE BUSINESS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39112"/>
            <a:ext cx="5349240" cy="9144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500" b="0">
                <a:solidFill>
                  <a:srgbClr val="2A3441"/>
                </a:solidFill>
                <a:latin typeface="Aptos"/>
              </a:rPr>
              <a:t>Telecom companies can lose revenue when customers stop using their services. The goal is to explore churn patterns, build baseline prediction models, and turn findings into practical retention actions.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46120"/>
            <a:ext cx="1664208" cy="9875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A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1" y="3401568"/>
            <a:ext cx="1517904" cy="36576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/>
            <a:r>
              <a:rPr sz="2300" b="1">
                <a:solidFill>
                  <a:srgbClr val="2A65AD"/>
                </a:solidFill>
                <a:latin typeface="Aptos"/>
              </a:rPr>
              <a:t>25,000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1" y="3794760"/>
            <a:ext cx="1517904" cy="2286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/>
            <a:r>
              <a:rPr sz="1000" b="0">
                <a:solidFill>
                  <a:srgbClr val="5F6C7C"/>
                </a:solidFill>
                <a:latin typeface="Aptos"/>
              </a:rPr>
              <a:t>Customer records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14600" y="3246120"/>
            <a:ext cx="1664208" cy="9875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A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87752" y="3401568"/>
            <a:ext cx="1517904" cy="36576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/>
            <a:r>
              <a:rPr sz="2300" b="1">
                <a:solidFill>
                  <a:srgbClr val="209191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87752" y="3794760"/>
            <a:ext cx="1517904" cy="2286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/>
            <a:r>
              <a:rPr sz="1000" b="0">
                <a:solidFill>
                  <a:srgbClr val="5F6C7C"/>
                </a:solidFill>
                <a:latin typeface="Aptos"/>
              </a:rPr>
              <a:t>Models compared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3246120"/>
            <a:ext cx="1664208" cy="9875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A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62272" y="3401568"/>
            <a:ext cx="1517904" cy="36576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/>
            <a:r>
              <a:rPr sz="2300" b="1">
                <a:solidFill>
                  <a:srgbClr val="E18B3A"/>
                </a:solidFill>
                <a:latin typeface="Aptos"/>
              </a:rPr>
              <a:t>0.651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2272" y="3794760"/>
            <a:ext cx="1517904" cy="2286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/>
            <a:r>
              <a:rPr sz="1000" b="0">
                <a:solidFill>
                  <a:srgbClr val="5F6C7C"/>
                </a:solidFill>
                <a:latin typeface="Aptos"/>
              </a:rPr>
              <a:t>Best ROC-AUC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691640"/>
            <a:ext cx="5074920" cy="2743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A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75120" y="1901952"/>
            <a:ext cx="4480560" cy="329184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400" b="1">
                <a:solidFill>
                  <a:srgbClr val="2A65AD"/>
                </a:solidFill>
                <a:latin typeface="Aptos"/>
              </a:rPr>
              <a:t>PROJECT WORKFLOW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75120" y="2331720"/>
            <a:ext cx="384048" cy="329184"/>
          </a:xfrm>
          <a:prstGeom prst="roundRect">
            <a:avLst>
              <a:gd name="adj" fmla="val 12000"/>
            </a:avLst>
          </a:prstGeom>
          <a:solidFill>
            <a:srgbClr val="2A65AD"/>
          </a:solidFill>
          <a:ln>
            <a:solidFill>
              <a:srgbClr val="2A6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84264" y="2354579"/>
            <a:ext cx="365760" cy="2286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2322576"/>
            <a:ext cx="1143000" cy="25603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200" b="1">
                <a:solidFill>
                  <a:srgbClr val="2A3441"/>
                </a:solidFill>
                <a:latin typeface="Aptos"/>
              </a:rPr>
              <a:t>Explore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322576"/>
            <a:ext cx="2834640" cy="34747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000" b="0">
                <a:solidFill>
                  <a:srgbClr val="5F6C7C"/>
                </a:solidFill>
                <a:latin typeface="Aptos"/>
              </a:rPr>
              <a:t>Inspect data, target distribution and feature patterns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75120" y="2816352"/>
            <a:ext cx="384048" cy="329184"/>
          </a:xfrm>
          <a:prstGeom prst="roundRect">
            <a:avLst>
              <a:gd name="adj" fmla="val 12000"/>
            </a:avLst>
          </a:prstGeom>
          <a:solidFill>
            <a:srgbClr val="2A65AD"/>
          </a:solidFill>
          <a:ln>
            <a:solidFill>
              <a:srgbClr val="2A6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84264" y="2839212"/>
            <a:ext cx="365760" cy="2286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8040" y="2807208"/>
            <a:ext cx="1143000" cy="25603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200" b="1">
                <a:solidFill>
                  <a:srgbClr val="2A3441"/>
                </a:solidFill>
                <a:latin typeface="Aptos"/>
              </a:rPr>
              <a:t>Prepare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2807208"/>
            <a:ext cx="2834640" cy="34747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000" b="0">
                <a:solidFill>
                  <a:srgbClr val="5F6C7C"/>
                </a:solidFill>
                <a:latin typeface="Aptos"/>
              </a:rPr>
              <a:t>Clean and preprocess numeric/categorical features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75120" y="3300984"/>
            <a:ext cx="384048" cy="329184"/>
          </a:xfrm>
          <a:prstGeom prst="roundRect">
            <a:avLst>
              <a:gd name="adj" fmla="val 12000"/>
            </a:avLst>
          </a:prstGeom>
          <a:solidFill>
            <a:srgbClr val="2A65AD"/>
          </a:solidFill>
          <a:ln>
            <a:solidFill>
              <a:srgbClr val="2A6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684264" y="3323844"/>
            <a:ext cx="365760" cy="2286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78040" y="3291840"/>
            <a:ext cx="1143000" cy="25603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200" b="1">
                <a:solidFill>
                  <a:srgbClr val="2A3441"/>
                </a:solidFill>
                <a:latin typeface="Aptos"/>
              </a:rPr>
              <a:t>Model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3291840"/>
            <a:ext cx="2834640" cy="34747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000" b="0">
                <a:solidFill>
                  <a:srgbClr val="5F6C7C"/>
                </a:solidFill>
                <a:latin typeface="Aptos"/>
              </a:rPr>
              <a:t>Train Logistic Regression and Decision Tree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75120" y="3785615"/>
            <a:ext cx="384048" cy="329184"/>
          </a:xfrm>
          <a:prstGeom prst="roundRect">
            <a:avLst>
              <a:gd name="adj" fmla="val 12000"/>
            </a:avLst>
          </a:prstGeom>
          <a:solidFill>
            <a:srgbClr val="209191"/>
          </a:solidFill>
          <a:ln>
            <a:solidFill>
              <a:srgbClr val="2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684264" y="3808476"/>
            <a:ext cx="365760" cy="2286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78040" y="3776472"/>
            <a:ext cx="1143000" cy="25603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200" b="1">
                <a:solidFill>
                  <a:srgbClr val="2A3441"/>
                </a:solidFill>
                <a:latin typeface="Aptos"/>
              </a:rPr>
              <a:t>Recommend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3776472"/>
            <a:ext cx="2834640" cy="34747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000" b="0">
                <a:solidFill>
                  <a:srgbClr val="5F6C7C"/>
                </a:solidFill>
                <a:latin typeface="Aptos"/>
              </a:rPr>
              <a:t>Translate model trade-offs into retention actions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4663440"/>
            <a:ext cx="10835640" cy="1078992"/>
          </a:xfrm>
          <a:prstGeom prst="roundRect">
            <a:avLst>
              <a:gd name="adj" fmla="val 12000"/>
            </a:avLst>
          </a:prstGeom>
          <a:solidFill>
            <a:srgbClr val="142748"/>
          </a:solidFill>
          <a:ln>
            <a:solidFill>
              <a:srgbClr val="142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14400" y="4882896"/>
            <a:ext cx="1828800" cy="2743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200" b="1">
                <a:solidFill>
                  <a:srgbClr val="85CADC"/>
                </a:solidFill>
                <a:latin typeface="Aptos"/>
              </a:rPr>
              <a:t>TOOLS USED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0" y="4846320"/>
            <a:ext cx="8138160" cy="43891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Python  •  Google Colab  •  Pandas  •  NumPy  •  Matplotlib  •  Seaborn  •  scikit-learn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748"/>
          </a:solidFill>
          <a:ln>
            <a:solidFill>
              <a:srgbClr val="142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01168"/>
            <a:ext cx="10972800" cy="38404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"/>
              </a:rPr>
              <a:t>MODEL RESULTS → BUSINESS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78992"/>
            <a:ext cx="5120640" cy="32004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400" b="1">
                <a:solidFill>
                  <a:srgbClr val="2A65AD"/>
                </a:solidFill>
                <a:latin typeface="Aptos"/>
              </a:rPr>
              <a:t>BASELINE MODEL COMPARISON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36192"/>
            <a:ext cx="1920240" cy="438912"/>
          </a:xfrm>
          <a:prstGeom prst="rect">
            <a:avLst/>
          </a:prstGeom>
          <a:solidFill>
            <a:srgbClr val="2A65AD"/>
          </a:solidFill>
          <a:ln>
            <a:solidFill>
              <a:srgbClr val="2A6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76656" y="1627632"/>
            <a:ext cx="1847088" cy="2286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0" y="1536192"/>
            <a:ext cx="1005840" cy="438912"/>
          </a:xfrm>
          <a:prstGeom prst="rect">
            <a:avLst/>
          </a:prstGeom>
          <a:solidFill>
            <a:srgbClr val="2A65AD"/>
          </a:solidFill>
          <a:ln>
            <a:solidFill>
              <a:srgbClr val="2A6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596896" y="1627632"/>
            <a:ext cx="932688" cy="2286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Accuracy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66160" y="1536192"/>
            <a:ext cx="1005840" cy="438912"/>
          </a:xfrm>
          <a:prstGeom prst="rect">
            <a:avLst/>
          </a:prstGeom>
          <a:solidFill>
            <a:srgbClr val="2A65AD"/>
          </a:solidFill>
          <a:ln>
            <a:solidFill>
              <a:srgbClr val="2A6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02736" y="1627632"/>
            <a:ext cx="932688" cy="2286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Precision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536192"/>
            <a:ext cx="1005840" cy="438912"/>
          </a:xfrm>
          <a:prstGeom prst="rect">
            <a:avLst/>
          </a:prstGeom>
          <a:solidFill>
            <a:srgbClr val="2A65AD"/>
          </a:solidFill>
          <a:ln>
            <a:solidFill>
              <a:srgbClr val="2A6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08576" y="1627632"/>
            <a:ext cx="932688" cy="2286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Recall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77840" y="1536192"/>
            <a:ext cx="1005840" cy="438912"/>
          </a:xfrm>
          <a:prstGeom prst="rect">
            <a:avLst/>
          </a:prstGeom>
          <a:solidFill>
            <a:srgbClr val="2A65AD"/>
          </a:solidFill>
          <a:ln>
            <a:solidFill>
              <a:srgbClr val="2A6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14416" y="1627632"/>
            <a:ext cx="932688" cy="2286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ROC-AUC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1975104"/>
            <a:ext cx="1920240" cy="484632"/>
          </a:xfrm>
          <a:prstGeom prst="rect">
            <a:avLst/>
          </a:prstGeom>
          <a:solidFill>
            <a:srgbClr val="F1F6FC"/>
          </a:solidFill>
          <a:ln>
            <a:solidFill>
              <a:srgbClr val="DA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7512" y="2084832"/>
            <a:ext cx="1865376" cy="25603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/>
            <a:r>
              <a:rPr sz="1000" b="1">
                <a:solidFill>
                  <a:srgbClr val="2A3441"/>
                </a:solidFill>
                <a:latin typeface="Aptos"/>
              </a:rPr>
              <a:t>Logistic Regression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60320" y="1975104"/>
            <a:ext cx="1005840" cy="484632"/>
          </a:xfrm>
          <a:prstGeom prst="rect">
            <a:avLst/>
          </a:prstGeom>
          <a:solidFill>
            <a:srgbClr val="F1F6FC"/>
          </a:solidFill>
          <a:ln>
            <a:solidFill>
              <a:srgbClr val="DA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587751" y="2084832"/>
            <a:ext cx="950976" cy="25603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/>
            <a:r>
              <a:rPr sz="1000" b="0">
                <a:solidFill>
                  <a:srgbClr val="2A3441"/>
                </a:solidFill>
                <a:latin typeface="Aptos"/>
              </a:rPr>
              <a:t>63.44%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66160" y="1975104"/>
            <a:ext cx="1005840" cy="484632"/>
          </a:xfrm>
          <a:prstGeom prst="rect">
            <a:avLst/>
          </a:prstGeom>
          <a:solidFill>
            <a:srgbClr val="F1F6FC"/>
          </a:solidFill>
          <a:ln>
            <a:solidFill>
              <a:srgbClr val="DA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593591" y="2084832"/>
            <a:ext cx="950976" cy="25603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/>
            <a:r>
              <a:rPr sz="1000" b="0">
                <a:solidFill>
                  <a:srgbClr val="2A3441"/>
                </a:solidFill>
                <a:latin typeface="Aptos"/>
              </a:rPr>
              <a:t>59.95%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0" y="1975104"/>
            <a:ext cx="1005840" cy="484632"/>
          </a:xfrm>
          <a:prstGeom prst="rect">
            <a:avLst/>
          </a:prstGeom>
          <a:solidFill>
            <a:srgbClr val="F1F6FC"/>
          </a:solidFill>
          <a:ln>
            <a:solidFill>
              <a:srgbClr val="DA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99432" y="2084832"/>
            <a:ext cx="950976" cy="25603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/>
            <a:r>
              <a:rPr sz="1000" b="0">
                <a:solidFill>
                  <a:srgbClr val="2A3441"/>
                </a:solidFill>
                <a:latin typeface="Aptos"/>
              </a:rPr>
              <a:t>35.35%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577840" y="1975104"/>
            <a:ext cx="1005840" cy="484632"/>
          </a:xfrm>
          <a:prstGeom prst="rect">
            <a:avLst/>
          </a:prstGeom>
          <a:solidFill>
            <a:srgbClr val="F1F6FC"/>
          </a:solidFill>
          <a:ln>
            <a:solidFill>
              <a:srgbClr val="DA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605272" y="2084832"/>
            <a:ext cx="950976" cy="25603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/>
            <a:r>
              <a:rPr sz="1000" b="0">
                <a:solidFill>
                  <a:srgbClr val="2A3441"/>
                </a:solidFill>
                <a:latin typeface="Aptos"/>
              </a:rPr>
              <a:t>0.651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2459736"/>
            <a:ext cx="1920240" cy="484632"/>
          </a:xfrm>
          <a:prstGeom prst="rect">
            <a:avLst/>
          </a:prstGeom>
          <a:solidFill>
            <a:srgbClr val="F8FAFD"/>
          </a:solidFill>
          <a:ln>
            <a:solidFill>
              <a:srgbClr val="DA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7512" y="2569464"/>
            <a:ext cx="1865376" cy="25603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/>
            <a:r>
              <a:rPr sz="1000" b="1">
                <a:solidFill>
                  <a:srgbClr val="2A3441"/>
                </a:solidFill>
                <a:latin typeface="Aptos"/>
              </a:rPr>
              <a:t>Decision Tree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60320" y="2459736"/>
            <a:ext cx="1005840" cy="484632"/>
          </a:xfrm>
          <a:prstGeom prst="rect">
            <a:avLst/>
          </a:prstGeom>
          <a:solidFill>
            <a:srgbClr val="F8FAFD"/>
          </a:solidFill>
          <a:ln>
            <a:solidFill>
              <a:srgbClr val="DA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587751" y="2569464"/>
            <a:ext cx="950976" cy="25603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/>
            <a:r>
              <a:rPr sz="1000" b="0">
                <a:solidFill>
                  <a:srgbClr val="2A3441"/>
                </a:solidFill>
                <a:latin typeface="Aptos"/>
              </a:rPr>
              <a:t>60.46%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66160" y="2459736"/>
            <a:ext cx="1005840" cy="484632"/>
          </a:xfrm>
          <a:prstGeom prst="rect">
            <a:avLst/>
          </a:prstGeom>
          <a:solidFill>
            <a:srgbClr val="F8FAFD"/>
          </a:solidFill>
          <a:ln>
            <a:solidFill>
              <a:srgbClr val="DA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593591" y="2569464"/>
            <a:ext cx="950976" cy="25603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/>
            <a:r>
              <a:rPr sz="1000" b="0">
                <a:solidFill>
                  <a:srgbClr val="2A3441"/>
                </a:solidFill>
                <a:latin typeface="Aptos"/>
              </a:rPr>
              <a:t>52.22%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0" y="2459736"/>
            <a:ext cx="1005840" cy="484632"/>
          </a:xfrm>
          <a:prstGeom prst="rect">
            <a:avLst/>
          </a:prstGeom>
          <a:solidFill>
            <a:srgbClr val="F8FAFD"/>
          </a:solidFill>
          <a:ln>
            <a:solidFill>
              <a:srgbClr val="DA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99432" y="2569464"/>
            <a:ext cx="950976" cy="25603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/>
            <a:r>
              <a:rPr sz="1000" b="0">
                <a:solidFill>
                  <a:srgbClr val="2A3441"/>
                </a:solidFill>
                <a:latin typeface="Aptos"/>
              </a:rPr>
              <a:t>53.45%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577840" y="2459736"/>
            <a:ext cx="1005840" cy="484632"/>
          </a:xfrm>
          <a:prstGeom prst="rect">
            <a:avLst/>
          </a:prstGeom>
          <a:solidFill>
            <a:srgbClr val="F8FAFD"/>
          </a:solidFill>
          <a:ln>
            <a:solidFill>
              <a:srgbClr val="DA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605272" y="2569464"/>
            <a:ext cx="950976" cy="25603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/>
            <a:r>
              <a:rPr sz="1000" b="0">
                <a:solidFill>
                  <a:srgbClr val="2A3441"/>
                </a:solidFill>
                <a:latin typeface="Aptos"/>
              </a:rPr>
              <a:t>0.619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3035808"/>
            <a:ext cx="5486400" cy="56692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100" b="0">
                <a:solidFill>
                  <a:srgbClr val="2A3441"/>
                </a:solidFill>
                <a:latin typeface="Aptos"/>
              </a:rPr>
              <a:t>Readout: Logistic Regression scored higher on accuracy and ROC-AUC. The Decision Tree had higher recall, identifying a greater share of churn cases in this test.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620256" y="1121172"/>
            <a:ext cx="5074920" cy="2514600"/>
          </a:xfrm>
          <a:prstGeom prst="roundRect">
            <a:avLst>
              <a:gd name="adj" fmla="val 12000"/>
            </a:avLst>
          </a:prstGeom>
          <a:solidFill>
            <a:srgbClr val="F1F6FC"/>
          </a:solidFill>
          <a:ln>
            <a:solidFill>
              <a:srgbClr val="DA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675120" y="1389888"/>
            <a:ext cx="4480560" cy="310896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400" b="1">
                <a:solidFill>
                  <a:srgbClr val="209191"/>
                </a:solidFill>
                <a:latin typeface="Aptos"/>
              </a:rPr>
              <a:t>RETENTION RECOMMENDATIONS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93408" y="1801516"/>
            <a:ext cx="4480560" cy="1664208"/>
          </a:xfrm>
          <a:prstGeom prst="rect">
            <a:avLst/>
          </a:prstGeom>
          <a:noFill/>
        </p:spPr>
        <p:txBody>
          <a:bodyPr wrap="square" lIns="73152" rIns="45720" bIns="27432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A3441"/>
                </a:solidFill>
                <a:latin typeface="Aptos"/>
              </a:defRPr>
            </a:pPr>
            <a:r>
              <a:t>•  Prioritise higher-risk customers for human follow-up.</a:t>
            </a:r>
          </a:p>
          <a:p>
            <a:pPr>
              <a:spcAft>
                <a:spcPts val="600"/>
              </a:spcAft>
              <a:defRPr sz="1100">
                <a:solidFill>
                  <a:srgbClr val="2A3441"/>
                </a:solidFill>
                <a:latin typeface="Aptos"/>
              </a:defRPr>
            </a:pPr>
            <a:r>
              <a:t>•  Investigate service complaints, billing friction and support issues.</a:t>
            </a:r>
          </a:p>
          <a:p>
            <a:pPr>
              <a:spcAft>
                <a:spcPts val="600"/>
              </a:spcAft>
              <a:defRPr sz="1100">
                <a:solidFill>
                  <a:srgbClr val="2A3441"/>
                </a:solidFill>
                <a:latin typeface="Aptos"/>
              </a:defRPr>
            </a:pPr>
            <a:r>
              <a:t>•  Test targeted offers or service improvements with selected customer groups.</a:t>
            </a:r>
          </a:p>
          <a:p>
            <a:pPr>
              <a:spcAft>
                <a:spcPts val="600"/>
              </a:spcAft>
              <a:defRPr sz="1100">
                <a:solidFill>
                  <a:srgbClr val="2A3441"/>
                </a:solidFill>
                <a:latin typeface="Aptos"/>
              </a:defRPr>
            </a:pPr>
            <a:r>
              <a:t>•  Track retention, campaign cost and customer response.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3886200"/>
            <a:ext cx="5440680" cy="1600200"/>
          </a:xfrm>
          <a:prstGeom prst="roundRect">
            <a:avLst>
              <a:gd name="adj" fmla="val 12000"/>
            </a:avLst>
          </a:prstGeom>
          <a:solidFill>
            <a:srgbClr val="FAF6EF"/>
          </a:solidFill>
          <a:ln>
            <a:solidFill>
              <a:srgbClr val="EDDA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96112" y="4096512"/>
            <a:ext cx="4846320" cy="29260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300" b="1">
                <a:solidFill>
                  <a:srgbClr val="E18B3A"/>
                </a:solidFill>
                <a:latin typeface="Aptos"/>
              </a:rPr>
              <a:t>LIMITATIONS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6112" y="4453128"/>
            <a:ext cx="4754880" cy="868680"/>
          </a:xfrm>
          <a:prstGeom prst="rect">
            <a:avLst/>
          </a:prstGeom>
          <a:noFill/>
        </p:spPr>
        <p:txBody>
          <a:bodyPr wrap="square" lIns="73152" rIns="45720" bIns="27432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2A3441"/>
                </a:solidFill>
                <a:latin typeface="Aptos"/>
              </a:defRPr>
            </a:pPr>
            <a:r>
              <a:t>•  Baseline performance is moderate; predictions need validation before real use.</a:t>
            </a:r>
          </a:p>
          <a:p>
            <a:pPr>
              <a:spcAft>
                <a:spcPts val="500"/>
              </a:spcAft>
              <a:defRPr sz="1100">
                <a:solidFill>
                  <a:srgbClr val="2A3441"/>
                </a:solidFill>
                <a:latin typeface="Aptos"/>
              </a:defRPr>
            </a:pPr>
            <a:r>
              <a:t>•  Business impact has not been measured; retention actions should be tested.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00800" y="3886200"/>
            <a:ext cx="5074920" cy="1600200"/>
          </a:xfrm>
          <a:prstGeom prst="roundRect">
            <a:avLst>
              <a:gd name="adj" fmla="val 12000"/>
            </a:avLst>
          </a:prstGeom>
          <a:solidFill>
            <a:srgbClr val="EFF8F5"/>
          </a:solidFill>
          <a:ln>
            <a:solidFill>
              <a:srgbClr val="C0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675120" y="4096512"/>
            <a:ext cx="4480560" cy="29260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300" b="1">
                <a:solidFill>
                  <a:srgbClr val="2C8562"/>
                </a:solidFill>
                <a:latin typeface="Aptos"/>
              </a:rPr>
              <a:t>NEXT STEPS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75120" y="4453128"/>
            <a:ext cx="4434840" cy="868680"/>
          </a:xfrm>
          <a:prstGeom prst="rect">
            <a:avLst/>
          </a:prstGeom>
          <a:noFill/>
        </p:spPr>
        <p:txBody>
          <a:bodyPr wrap="square" lIns="73152" rIns="45720" bIns="27432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2A3441"/>
                </a:solidFill>
                <a:latin typeface="Aptos"/>
              </a:defRPr>
            </a:pPr>
            <a:r>
              <a:t>•  Verify the target definition in the data dictionary.</a:t>
            </a:r>
          </a:p>
          <a:p>
            <a:pPr>
              <a:spcAft>
                <a:spcPts val="500"/>
              </a:spcAft>
              <a:defRPr sz="1100">
                <a:solidFill>
                  <a:srgbClr val="2A3441"/>
                </a:solidFill>
                <a:latin typeface="Aptos"/>
              </a:defRPr>
            </a:pPr>
            <a:r>
              <a:t>•  Tune models and inspect class-specific errors.</a:t>
            </a:r>
          </a:p>
          <a:p>
            <a:pPr>
              <a:spcAft>
                <a:spcPts val="500"/>
              </a:spcAft>
              <a:defRPr sz="1100">
                <a:solidFill>
                  <a:srgbClr val="2A3441"/>
                </a:solidFill>
                <a:latin typeface="Aptos"/>
              </a:defRPr>
            </a:pPr>
            <a:r>
              <a:t>•  Run controlled tests to measure retention campaign outcomes.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-676066" y="6135919"/>
            <a:ext cx="10789920" cy="357021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/>
            <a:r>
              <a:rPr sz="1600" b="1" dirty="0">
                <a:solidFill>
                  <a:srgbClr val="5F6C7C"/>
                </a:solidFill>
                <a:latin typeface="Aptos"/>
              </a:rPr>
              <a:t>Important: Model scores are evaluation results, not proof that a retention campaign will reduce churn</a:t>
            </a:r>
            <a:r>
              <a:rPr sz="900" b="0" dirty="0">
                <a:solidFill>
                  <a:srgbClr val="5F6C7C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290</Words>
  <Application>Microsoft Office PowerPoint</Application>
  <PresentationFormat>Widescreen</PresentationFormat>
  <Paragraphs>56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Arial</vt:lpstr>
      <vt:lpstr>Calibri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mohit dhiman</cp:lastModifiedBy>
  <cp:revision>2</cp:revision>
  <dcterms:created xsi:type="dcterms:W3CDTF">2013-01-27T09:14:16Z</dcterms:created>
  <dcterms:modified xsi:type="dcterms:W3CDTF">2026-10-20T14:15:52Z</dcterms:modified>
  <cp:category/>
</cp:coreProperties>
</file>